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13"/>
    <p:sldId id="263" r:id="rId12"/>
    <p:sldId id="264" r:id="rId11"/>
    <p:sldId id="265" r:id="rId10"/>
    <p:sldId id="266" r:id="rId9"/>
    <p:sldId id="267" r:id="rId8"/>
    <p:sldId id="268" r:id="rId7"/>
    <p:sldId id="269" r:id="rId6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Proxima Nova Extrabold"/>
      <p:bold r:id="rId24"/>
    </p:embeddedFont>
    <p:embeddedFont>
      <p:font typeface="Proxima Nova Semibold"/>
      <p:regular r:id="rId25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9.xml"/><Relationship Id="rId12" Type="http://schemas.openxmlformats.org/officeDocument/2006/relationships/slide" Target="slides/slide8.xml"/><Relationship Id="rId13" Type="http://schemas.openxmlformats.org/officeDocument/2006/relationships/slide" Target="slides/slide7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font" Target="fonts/ProximaNova-regular.fntdata"/><Relationship Id="rId21" Type="http://schemas.openxmlformats.org/officeDocument/2006/relationships/font" Target="fonts/ProximaNova-bold.fntdata"/><Relationship Id="rId22" Type="http://schemas.openxmlformats.org/officeDocument/2006/relationships/font" Target="fonts/ProximaNova-italic.fntdata"/><Relationship Id="rId23" Type="http://schemas.openxmlformats.org/officeDocument/2006/relationships/font" Target="fonts/ProximaNova-boldItalic.fntdata"/><Relationship Id="rId24" Type="http://schemas.openxmlformats.org/officeDocument/2006/relationships/font" Target="fonts/ProximaNovaExtrabold-bold.fntdata"/><Relationship Id="rId25" Type="http://schemas.openxmlformats.org/officeDocument/2006/relationships/font" Target="fonts/ProximaNovaSemibold-regular.fntdata"/><Relationship Id="rId26" Type="http://schemas.openxmlformats.org/officeDocument/2006/relationships/font" Target="fonts/ProximaNovaSemibold-bold.fntdata"/><Relationship Id="rId27" Type="http://schemas.openxmlformats.org/officeDocument/2006/relationships/font" Target="fonts/ProximaNova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Apresentar a equipe e o artigo reproduzido.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turma já viu o seminário: só o necessário para entender o que reproduzimos.</a:t>
            </a:r>
          </a:p>
          <a:p>
            <a:r>
              <a:t>Artigo: Zebin, Rezvy e Luo, IEEE TIFS, 2022. Conjunto de dados CIRA-CIC-DoHBrw-2020.</a:t>
            </a:r>
          </a:p>
          <a:p>
            <a:r>
              <a:t>Os valores acima de 99,9% são os do resumo do artigo.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Nada foi ajustado para aproximar número do artigo: seed, hiperparâmetro e limpeza ficaram fixos.</a:t>
            </a:r>
          </a:p>
          <a:p>
            <a:r>
              <a:t>As duas leituras de profundidade têm apoio no texto; reportamos as duas.</a:t>
            </a:r>
          </a:p>
          <a:p>
            <a:r>
              <a:t>Os experimentos seguintes usam a leitura de profundidade variável como base, porque a outra não prediz uma das classes.</a:t>
            </a:r>
          </a:p>
          <a:p>
            <a:r>
              <a:t>Protocolo corrigido: dez seeds em vez de uma, comparação pareada no mesmo split, teste sem vetores repetidos e folds por máquina.</a:t>
            </a:r>
          </a:p>
          <a:p>
            <a:r>
              <a:t>Um script por experimento; resultado gravado com seed, versões e commit.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Não há conjunto de validação separado, como no artigo: a validação é cruzada.</a:t>
            </a:r>
          </a:p>
          <a:p>
            <a:r>
              <a:t>O combinado publicado repete 20 vezes cada fluxo do HKD; usamos a forma sem réplicas, para o teste não conter cópias do treino.</a:t>
            </a:r>
          </a:p>
          <a:p>
            <a:r>
              <a:t>O HKD sozinho só tem tráfego malicioso: serve de teste na transferência.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Linha é a classe real, coluna a predita; entre parênteses, a diferença para o artigo.</a:t>
            </a:r>
          </a:p>
          <a:p>
            <a:r>
              <a:t>Com profundidade 5, os 1975 fluxos Benign-DoH do teste vão para Non-DoH.</a:t>
            </a:r>
          </a:p>
          <a:p>
            <a:r>
              <a:t>Com profundidade variável: F1 macro de 96,56%, contra 97,82% calculado da Fig. 4b.</a:t>
            </a:r>
          </a:p>
          <a:p>
            <a:r>
              <a:t>Não afirmamos que a profundidade variável é a dos autores: são duas leituras com apoio no texto.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bases de profundidade 5 têm precisão de Benign-DoH perto de 30%: marcam muito Non-DoH como Benign-DoH.</a:t>
            </a:r>
          </a:p>
          <a:p>
            <a:r>
              <a:t>A combinação em que os três dizem Benign-DoH ocorre em 49247 fluxos do treino; 31025 são Non-DoH. O meta-classificador devolve Non-DoH.</a:t>
            </a:r>
          </a:p>
          <a:p>
            <a:r>
              <a:t>Por isso as métricas por classe vêm antes das médias, e a média é a macro.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coluna do artigo é a da Tabela II; a da reprodução usa a média macro.</a:t>
            </a:r>
          </a:p>
          <a:p>
            <a:r>
              <a:t>O artigo não diz que média usa; nenhuma média reproduz a linha do modelo proposto.</a:t>
            </a:r>
          </a:p>
          <a:p>
            <a:r>
              <a:t>A legenda da Fig. 9 só é reproduzida com os arquivos sem a limpeza: é indício, não prova, de que essa seção usou outros dados.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Uma regra com um só atributo teria recall de 99,84% e 1 falso positivo em 909555 fluxos legítimos (Non-DoH e Benign-DoH): o modelo pode separar pela captura.</a:t>
            </a:r>
          </a:p>
          <a:p>
            <a:r>
              <a:t>Acima de 40 s, têm SHAP positivo 97,37% dos fluxos com profundidade variável e 99,53% com profundidade 5.</a:t>
            </a:r>
          </a:p>
          <a:p>
            <a:r>
              <a:t>Não dizemos que o limiar de 40 s foi refutado: a amostra tem classes em partes iguais e o artigo lê o valor a olho.</a:t>
            </a:r>
          </a:p>
          <a:p>
            <a:r>
              <a:t>O painel interativo foi implementado e pode ser mostrado ao final.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Um ponto por seed; o traço é a média.</a:t>
            </a:r>
          </a:p>
          <a:p>
            <a:r>
              <a:t>O que muda em relação à reprodução: dez seeds em vez de uma e comparação pareada no mesmo split; o SMOTE já era ajustado só no treino.</a:t>
            </a:r>
          </a:p>
          <a:p>
            <a:r>
              <a:t>Com profundidade 5, o recall de Benign-DoH é zero nas dez seeds.</a:t>
            </a:r>
          </a:p>
          <a:p>
            <a:r>
              <a:t>A separação entre Non-DoH e Benign-DoH aprendida em três máquinas não vale na quarta.</a:t>
            </a:r>
          </a:p>
          <a:p>
            <a:r>
              <a:t>Nenhuma máquina gerou tráfego legítimo e malicioso: nenhum split separa a captura do ataque.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É o achado principal. É compatível com um detector que aprendeu a assinatura das ferramentas e da captura do CIRA, e não o comportamento de túnel.</a:t>
            </a:r>
          </a:p>
          <a:p>
            <a:r>
              <a:t>Ferramenta e captura não se separam: o HKD traz outras ferramentas e outra captura.</a:t>
            </a:r>
          </a:p>
          <a:p>
            <a:r>
              <a:t>Os 99,42% são 510 de 513 fluxos, e medem as mesmas ferramentas, não uma nunca vista.</a:t>
            </a:r>
          </a:p>
          <a:p>
            <a:r>
              <a:t>Non-DoH e Benign-DoH do combinado são os do CIRA: métricas gerais iguais são esperadas.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hipótese foi registrada antes da execução: sem amostras sintéticas e sem empilhamento, F1 macro maior por menos de 1 ponto, sem ganho esperado no recall de Benign-DoH.</a:t>
            </a:r>
          </a:p>
          <a:p>
            <a:r>
              <a:t>A é o sistema do artigo com profundidade variável; 10 seeds, média e desvio, em %. Prec. Benign é a precisão de Benign-DoH.</a:t>
            </a:r>
          </a:p>
          <a:p>
            <a:r>
              <a:t>A seleção escolheu a mesma combinação nas dez seeds, nos dois conjuntos: 100 árvores, sem limite de profundidade, raiz quadrada dos atributos por divisão.</a:t>
            </a:r>
          </a:p>
          <a:p>
            <a:r>
              <a:t>M1 perde 0,50 ponto de recall de Benign-DoH e o FPR de Malicious-DoH vai de 0,0015% para 0,0048%.</a:t>
            </a:r>
          </a:p>
          <a:p>
            <a:r>
              <a:t>Com profundidade 5, o modelo único recupera o recall de Benign-DoH (87,64%), mas com precisão de 26,23% e F1 macro de 78,66%.</a:t>
            </a:r>
          </a:p>
          <a:p>
            <a:r>
              <a:t>Tempo: 1,6 vez no CIRA e 2,3 vezes no combinado; o tempo de A no CIRA foi medido sob outra carga e, reajustado, é 112,5 s (2,3 vezes).</a:t>
            </a:r>
          </a:p>
          <a:p>
            <a:r>
              <a:t>Não dizemos que a modificação reduz falsos positivos: no CIRA é cerca de um fluxo por teste, e não se repete no combinado.</a:t>
            </a:r>
          </a:p>
          <a:p>
            <a:r>
              <a:t>Os testes das seeds se sobrepõem: não usamos a palavra significativo.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e A-prof5 são o sistema do artigo com profundidade variável e com profundidade 5; M1M2 é a modificação.</a:t>
            </a:r>
          </a:p>
          <a:p>
            <a:r>
              <a:t>O artigo publica que a duração pesa na decisão: é o que o atacante usaria.</a:t>
            </a:r>
          </a:p>
          <a:p>
            <a:r>
              <a:t>Nenhum tráfego foi gerado: é perturbação simulada, sem retreino.</a:t>
            </a:r>
          </a:p>
          <a:p>
            <a:r>
              <a:t>Nos fatores 8 e 16, mais de 96% dos vetores são fisicamente incoerentes.</a:t>
            </a:r>
          </a:p>
          <a:p>
            <a:r>
              <a:t>Não dizemos quanto um atacante real evadiria.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modificação melhora o F1 macro em meio ponto e não resolve a detecção das ferramentas do HKD; sob fragmentação, seu recall cai em algumas seeds.</a:t>
            </a:r>
          </a:p>
          <a:p>
            <a:r>
              <a:t>O segundo conjunto de dados compartilha duas classes com o primeiro.</a:t>
            </a:r>
          </a:p>
          <a:p>
            <a:r>
              <a:t>Próximo passo: gerar tráfego fragmentado e testar uma ferramenta deixada de fora.</a:t>
            </a:r>
          </a:p>
          <a:p>
            <a:r>
              <a:t>Relatório, código e resultados estão no repositório.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para perguntas.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700" y="1350000"/>
            <a:ext cx="8520600" cy="150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Proxima Nova Extrabold"/>
              </a:rPr>
              <a:t>IDS explicável para ataques DNS over HTTPS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700" y="2950000"/>
            <a:ext cx="8520600" cy="170000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Proxima Nova"/>
              </a:rPr>
              <a:t>Reprodução, segundo conjunto de dados e modificação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Proxima Nova"/>
              </a:rPr>
              <a:t>CIN0114 · Técnicas de Ataque e Detecção de Intrusão · 2026.2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Proxima Nova"/>
              </a:rPr>
              <a:t>Prof. Paulo Freitas de Araujo Filho · CIn/UFPE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Proxima Nova"/>
              </a:rPr>
              <a:t>Amanda Arruda · Breno Silva Xavier de Souza · João Henrique Portela · Antonio Gonzaga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00000"/>
            <a:ext cx="2198418" cy="7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O artigo em um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85206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Problema: o DoH cifra a consulta DNS; o túnel DNS vira HTTPS comum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O IDS só tem estatísticas de fluxo (29 atributos) e três classes: Non-DoH, Benign-DoH, Malicious-DoH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Sistema: três subconjuntos balanceados com SMOTE, três Random Forests e uma regressão logística que os combina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Explicação das decisões com SHAP, em painel interativo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Publicado: precisão, recall e F1 acima de 99,9%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4560000"/>
            <a:ext cx="8520600" cy="48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231F20"/>
                </a:solidFill>
                <a:latin typeface="Proxima Nova"/>
              </a:rPr>
              <a:t>T. Zebin, S. Rezvy and Y. Luo, "An Explainable AI-Based Intrusion Detection System for DNS Over HTTPS (DoH) Attacks," IEEE Trans. Inf. Forensics Security, vol. 17, pp. 2339-2349, 2022, doi: 10.1109/TIFS.2022.3183390.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O que construímos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85206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Reimplementação a partir do texto: o código público só traz o painel e um Random Forest único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Duas leituras da profundidade das árvores, lado a lado: 5 (Seção IV-B) e variável (Algoritmo 1)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Todas as tabelas e figuras de resultado do artigo, com a diferença medida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Segundo conjunto de dados: CIRA + DoH-Tunnel-Traffic-HKD (HKD, Mitsuhashi et al.), com três ferramentas de túnel novas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Protocolo corrigido (10 seeds), modificação do sistema e teste de robustez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Dados e protocolo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010000"/>
          <a:ext cx="7924158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213"/>
                <a:gridCol w="1743315"/>
                <a:gridCol w="1743315"/>
                <a:gridCol w="1743315"/>
              </a:tblGrid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Fluxos por classe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Non-DoH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Benign-DoH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Malicious-DoH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CIRA limpo (igual à Tabela I)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889809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19746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249553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CIRA: treino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800828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17771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224598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CIRA: teste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88981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1975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24955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Combinado: treino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800828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17771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229330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Combinado: teste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88981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1975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25481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HKD isolado (só teste)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0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0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5258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1700" y="3210000"/>
            <a:ext cx="8520600" cy="178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Remover fluxos com valor ausente reproduz a Tabela I do artigo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Split 90/10 estratificado, seed 42; validação cruzada de 10 folds no treino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Segundo conjunto (combinado sem réplicas): só a classe maliciosa ganha tráfego novo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No CIRA, o malicioso vem de outras máquinas e de outro período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Reprodução: as duas leituras ao lado da Fig. 4b</a:t>
            </a:r>
          </a:p>
        </p:txBody>
      </p:sp>
      <p:pic>
        <p:nvPicPr>
          <p:cNvPr id="4" name="Picture 3" descr="matriz_confusao_teste_dup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692" y="1010000"/>
            <a:ext cx="6884615" cy="25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700" y="3610000"/>
            <a:ext cx="8520600" cy="138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Profundidade 5: nenhum Benign-DoH predito, e a acurácia ainda é 97,79%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Profundidade variável: a 553 fluxos da matriz do artigo, contra 4711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proximidade não diz qual configuração os autores usaram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Por que a profundidade 5 perde uma classe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010000"/>
          <a:ext cx="7924158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213"/>
                <a:gridCol w="1743315"/>
                <a:gridCol w="1743315"/>
                <a:gridCol w="1743315"/>
              </a:tblGrid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Teste, em %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Artigo (Fig. 4b)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Profundidade 5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Prof. variável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Benign-DoH: precisão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97,27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0,00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87,13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Benign-DoH: recall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90,23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0,00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92,91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Malicious-DoH: recall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99,98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97,91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99,96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Acurácia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99,78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97,79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99,64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F1 macro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97,82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65,80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96,56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1700" y="2910000"/>
            <a:ext cx="8520600" cy="208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Sozinhos, os três Random Forests acertam 85% a 86% do Benign-DoH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perda acontece na regressão logística que os combina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No treino, quando os três dizem Benign-DoH, a classe real mais comum é Non-DoH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acurácia esconde a classe rara: Benign-DoH é 1,70% do teste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Tabela II e ferramenta de túnel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010000"/>
          <a:ext cx="7924157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213"/>
                <a:gridCol w="2614972"/>
                <a:gridCol w="2614972"/>
              </a:tblGrid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Teste, em %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F1 (artigo)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F1 macro (reprodução)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Decision Tree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81,97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84,21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XGBoost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98,43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94,00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Random Forest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99,87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94,80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Proposto, prof. 5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99,91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65,80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Proposto, prof. variável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99,91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96,56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1700" y="2910000"/>
            <a:ext cx="8520600" cy="208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Tabela II do artigo (99,98%) diverge da matriz do próprio artigo (99,78%)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ordem dos modelos de comparação se mantém em F1 macro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Ferramenta de túnel (Seção VI-D), prof. variável: recall a menos de 2 pontos do artigo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O artigo não descreve o método da Seção VI-D: é leitura nossa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Explicabilidade com SHAP</a:t>
            </a:r>
          </a:p>
        </p:txBody>
      </p:sp>
      <p:pic>
        <p:nvPicPr>
          <p:cNvPr id="4" name="Picture 3" descr="shap_importancia_c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411" y="1010000"/>
            <a:ext cx="2933478" cy="39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700" y="101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Artigo: Duration em primeiro. Aqui: PacketLengthMode, com larga margem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Spearman com a Fig. 5: 0,62 (prof. 5) e 0,51 (prof. variável)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Quatro valores de PacketLengthMode cobrem 99,84% do malicioso do CIRA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Duration: direção do artigo observada; o sinal troca em 33,13 s na nossa amostra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O SHAP explica os Random Forests base, não o empilhamento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Protocolo corrigido: 10 seeds</a:t>
            </a:r>
          </a:p>
        </p:txBody>
      </p:sp>
      <p:pic>
        <p:nvPicPr>
          <p:cNvPr id="4" name="Picture 3" descr="corrigido_s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0" y="1457468"/>
            <a:ext cx="4332300" cy="3005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700" y="101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A: sistema do artigo, profundidade variável. F1 macro de 96,56 ± 0,12%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B e C: Random Forest único com SMOTE; M1M2: a nossa modificação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13,64% do teste repete um vetor do treino; sem eles, os vereditos não mudam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Folds por máquina: recall de Benign-DoH cai de 93,07% para 31,10%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Segundo conjunto de dados: ferramentas novas</a:t>
            </a:r>
          </a:p>
        </p:txBody>
      </p:sp>
      <p:pic>
        <p:nvPicPr>
          <p:cNvPr id="4" name="Picture 3" descr="segundo_recall_ferram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721" y="1010000"/>
            <a:ext cx="3212857" cy="39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700" y="101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Treinado no CIRA, o sistema detecta 1,81% dos fluxos do HKD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A regra de PacketLengthMode: 99,84% no CIRA, 0% no HKD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Retreino sem réplicas: 99,42%, em fluxos vizinhos dos do treino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Retreino no publicado: todo fluxo do HKD no teste tem cópia no treino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Com profundidade 5: 73,29% nas ferramentas do HKD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Modificação: Random Forest único com peso de classe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010000"/>
          <a:ext cx="7924157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0281"/>
                <a:gridCol w="1465969"/>
                <a:gridCol w="1465969"/>
                <a:gridCol w="1465969"/>
                <a:gridCol w="1465969"/>
              </a:tblGrid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Conjunto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Modelo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Prec. Benign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F1 macro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oxima Nova"/>
                        </a:rPr>
                        <a:t>Treino (s)</a:t>
                      </a:r>
                    </a:p>
                  </a:txBody>
                  <a:tcPr marT="30000" marB="30000">
                    <a:solidFill>
                      <a:srgbClr val="231F20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CIRA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87,00 ± 0,66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96,56 ± 0,12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161,0 ± 57,3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CIRA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M1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90,71 ± 0,52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97,14 ± 0,12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31,1 ± 1,3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CIRA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M1M2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89,19 ± 0,70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97,05 ± 0,15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263,2 ± 7,2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Combinado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A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86,75 ± 0,83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96,53 ± 0,19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117,8 ± 2,0</a:t>
                      </a:r>
                    </a:p>
                  </a:txBody>
                  <a:tcPr marT="30000" marB="30000">
                    <a:solidFill>
                      <a:srgbClr val="EEEE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Combinado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M1M2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89,47 ± 0,50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97,10 ± 0,14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31F20"/>
                          </a:solidFill>
                          <a:latin typeface="Proxima Nova"/>
                        </a:rPr>
                        <a:t>265,1 ± 1,4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1700" y="2910000"/>
            <a:ext cx="8520600" cy="208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Hipótese, escrita antes: sem SMOTE, F1 macro maior, por menos de 1 ponto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M1: Random Forest único com peso de classe; M1M2: M1 com seleção de hiperparâmetros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Resultado: F1 macro 0,50 ponto acima no CIRA e 0,57 no combinado, nas dez seeds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O ganho já está em M1; a seleção não muda o F1 macro: −0,08 ± 0,15 ponto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Custo: M1 piora o FPR de Malicious-DoH; M1M2 treina em 1,6 a 2,3 vezes o tempo de 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Robustez: fragmentação simulada do fluxo</a:t>
            </a:r>
          </a:p>
        </p:txBody>
      </p:sp>
      <p:pic>
        <p:nvPicPr>
          <p:cNvPr id="4" name="Picture 3" descr="robustez_fragment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0" y="1457468"/>
            <a:ext cx="4332300" cy="3005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700" y="1010000"/>
            <a:ext cx="40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O atacante encurta o fluxo: duração e bytes divididos por k, no espaço de atributos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k = 2: o sistema do artigo perde 3,19 pontos de recall; M1M2, 0,34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k ≥ 4, sistema do artigo: 4,5 a 5,2 pontos abaixo, com pouca variação entre seeds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k ≥ 4, M1M2: abaixo de 90% em duas seeds (k = 4) ou três (k = 8 e 16)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31F20"/>
                </a:solidFill>
                <a:latin typeface="Proxima Nova"/>
              </a:rPr>
              <a:t>• Não ordena os modelos em robustez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860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50000"/>
            <a:ext cx="8520600" cy="56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Proxima Nova Extrabold"/>
              </a:rPr>
              <a:t>Limitações e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10000"/>
            <a:ext cx="85206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A reprodução depende de um ponto em aberto; a Tabela II e o resumo do artigo não foram reproduzidos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O sistema não detectou as três ferramentas do HKD, de outra captura: recall de 1,81%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Um atributo separa quase todo o malicioso do CIRA: captura e classe se confundem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Um Random Forest único com peso de classe supera o empilhamento em F1 macro, por 0,5 ponto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31F20"/>
                </a:solidFill>
                <a:latin typeface="Proxima Nova"/>
              </a:rPr>
              <a:t>• Nossa parte: reprodução com uma seed; fragmentação só simulada; a modificação treina em mais tempo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F0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900000"/>
            <a:ext cx="8520600" cy="900000"/>
          </a:xfrm>
        </p:spPr>
        <p:txBody>
          <a:bodyPr wrap="square"/>
          <a:lstStyle/>
          <a:p>
            <a:pPr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Proxima Nova Extrabold"/>
              </a:rPr>
              <a:t>Obrigado! Perguntas?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00000"/>
            <a:ext cx="2198418" cy="7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700" y="3000000"/>
            <a:ext cx="8520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oxima Nova"/>
              </a:rPr>
              <a:t>github.com/BrenoRev/Tecnicas_Ataque_Deteccao_Intrusao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