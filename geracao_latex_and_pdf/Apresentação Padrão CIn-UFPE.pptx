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Proxima Nova Extrabold"/>
      <p:bold r:id="rId24"/>
    </p:embeddedFont>
    <p:embeddedFont>
      <p:font typeface="Proxima Nova Semibold"/>
      <p:regular r:id="rId25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ProximaNovaExtrabold-bold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Semibold-bold.fntdata"/><Relationship Id="rId25" Type="http://schemas.openxmlformats.org/officeDocument/2006/relationships/font" Target="fonts/ProximaNovaSemibold-regular.fntdata"/><Relationship Id="rId27" Type="http://schemas.openxmlformats.org/officeDocument/2006/relationships/font" Target="fonts/ProximaNova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42e4618b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42e4618b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e6a0dfe9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e6a0dfe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SLIDE PADRÃO CORPO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4266b250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4266b250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4266b250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4266b250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4266b250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4266b250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4266b250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4266b250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4266b250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4266b250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4266b250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24266b250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42e4618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42e4618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24266b250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24266b250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4266b250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4266b250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4266b250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24266b250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4266b250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4266b250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in.ufpe.br/~imprensa/ManualDeIdentidadevisualCInUFP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hyperlink" Target="https://www.instagram.com/cinufpe/#" TargetMode="External"/><Relationship Id="rId11" Type="http://schemas.openxmlformats.org/officeDocument/2006/relationships/image" Target="../media/image5.png"/><Relationship Id="rId10" Type="http://schemas.openxmlformats.org/officeDocument/2006/relationships/hyperlink" Target="https://www.instagram.com/cinufpe/#" TargetMode="External"/><Relationship Id="rId12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hyperlink" Target="https://www.instagram.com/cinufpe/#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HMB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013" y="1285738"/>
            <a:ext cx="7439974" cy="257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460475"/>
            <a:ext cx="8520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Manual de apresentação</a:t>
            </a:r>
            <a:endParaRPr sz="36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1173875"/>
            <a:ext cx="85206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600">
                <a:latin typeface="Proxima Nova"/>
                <a:ea typeface="Proxima Nova"/>
                <a:cs typeface="Proxima Nova"/>
                <a:sym typeface="Proxima Nova"/>
              </a:rPr>
              <a:t>Essa é uma apresentação base disponível para uso de </a:t>
            </a:r>
            <a:r>
              <a:rPr b="1" i="1" lang="pt-BR" sz="5600">
                <a:latin typeface="Proxima Nova"/>
                <a:ea typeface="Proxima Nova"/>
                <a:cs typeface="Proxima Nova"/>
                <a:sym typeface="Proxima Nova"/>
              </a:rPr>
              <a:t>todos</a:t>
            </a:r>
            <a:r>
              <a:rPr b="1" lang="pt-BR" sz="5600">
                <a:latin typeface="Proxima Nova"/>
                <a:ea typeface="Proxima Nova"/>
                <a:cs typeface="Proxima Nova"/>
                <a:sym typeface="Proxima Nova"/>
              </a:rPr>
              <a:t> do Centro.</a:t>
            </a:r>
            <a:endParaRPr b="1" sz="5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Orientações Importantes:</a:t>
            </a:r>
            <a:endParaRPr sz="48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8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roxima Nova"/>
              <a:buChar char="●"/>
            </a:pPr>
            <a:r>
              <a:rPr b="1" lang="pt-BR" sz="4800">
                <a:latin typeface="Proxima Nova"/>
                <a:ea typeface="Proxima Nova"/>
                <a:cs typeface="Proxima Nova"/>
                <a:sym typeface="Proxima Nova"/>
              </a:rPr>
              <a:t>Não alterar esse arquivo:</a:t>
            </a:r>
            <a:r>
              <a:rPr lang="pt-BR" sz="4800">
                <a:latin typeface="Proxima Nova"/>
                <a:ea typeface="Proxima Nova"/>
                <a:cs typeface="Proxima Nova"/>
                <a:sym typeface="Proxima Nova"/>
              </a:rPr>
              <a:t> Para manter a integridade do padrão visual, solicitamos que </a:t>
            </a:r>
            <a:r>
              <a:rPr b="1" lang="pt-BR" sz="4800">
                <a:latin typeface="Proxima Nova"/>
                <a:ea typeface="Proxima Nova"/>
                <a:cs typeface="Proxima Nova"/>
                <a:sym typeface="Proxima Nova"/>
              </a:rPr>
              <a:t>não</a:t>
            </a:r>
            <a:r>
              <a:rPr lang="pt-BR" sz="4800">
                <a:latin typeface="Proxima Nova"/>
                <a:ea typeface="Proxima Nova"/>
                <a:cs typeface="Proxima Nova"/>
                <a:sym typeface="Proxima Nova"/>
              </a:rPr>
              <a:t> façam alterações no arquivo modelo. Para utilizar o layout, orientamos que façam uma cópia pessoal </a:t>
            </a:r>
            <a:r>
              <a:rPr lang="pt-BR" sz="4800">
                <a:latin typeface="Proxima Nova"/>
                <a:ea typeface="Proxima Nova"/>
                <a:cs typeface="Proxima Nova"/>
                <a:sym typeface="Proxima Nova"/>
              </a:rPr>
              <a:t>deste</a:t>
            </a:r>
            <a:r>
              <a:rPr lang="pt-BR" sz="4800">
                <a:latin typeface="Proxima Nova"/>
                <a:ea typeface="Proxima Nova"/>
                <a:cs typeface="Proxima Nova"/>
                <a:sym typeface="Proxima Nova"/>
              </a:rPr>
              <a:t> arquivo.</a:t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roxima Nova"/>
              <a:buChar char="●"/>
            </a:pPr>
            <a:r>
              <a:rPr b="1" lang="pt-BR" sz="4800">
                <a:latin typeface="Proxima Nova"/>
                <a:ea typeface="Proxima Nova"/>
                <a:cs typeface="Proxima Nova"/>
                <a:sym typeface="Proxima Nova"/>
              </a:rPr>
              <a:t>Seguir o padrão visual do CIn:</a:t>
            </a:r>
            <a:r>
              <a:rPr lang="pt-BR" sz="4800">
                <a:latin typeface="Proxima Nova"/>
                <a:ea typeface="Proxima Nova"/>
                <a:cs typeface="Proxima Nova"/>
                <a:sym typeface="Proxima Nova"/>
              </a:rPr>
              <a:t> Utilize as cores, fontes e layouts estabelecidos para garantir a uniformidade em todas as apresentações. Para saber mais do padrão visual do CIn, acesse nosso Manual de identidade: </a:t>
            </a:r>
            <a:r>
              <a:rPr lang="pt-BR" sz="4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https://www.cin.ufpe.br/~imprensa/ManualDeIdentidadevisualCInUFPE </a:t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i="1" lang="pt-BR" sz="4800">
                <a:latin typeface="Proxima Nova"/>
                <a:ea typeface="Proxima Nova"/>
                <a:cs typeface="Proxima Nova"/>
                <a:sym typeface="Proxima Nova"/>
              </a:rPr>
              <a:t>Agradecemos pela colaboração em manter a qualidade e a identidade visual de nossas comunicações!</a:t>
            </a:r>
            <a:endParaRPr b="1" i="1" sz="4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7475"/>
            <a:ext cx="6182700" cy="514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 flipH="1" rot="-5400000">
            <a:off x="4523838" y="526213"/>
            <a:ext cx="5149250" cy="4091075"/>
          </a:xfrm>
          <a:prstGeom prst="flowChartManualInpu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5876150" y="881250"/>
            <a:ext cx="2943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Título </a:t>
            </a:r>
            <a:endParaRPr b="1" sz="36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672450" y="2317575"/>
            <a:ext cx="31476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Texto (proxima nova seminegrito)</a:t>
            </a:r>
            <a:br>
              <a:rPr lang="pt-BR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pt-BR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alinhado à direita</a:t>
            </a:r>
            <a:endParaRPr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50550" y="152400"/>
            <a:ext cx="1075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(Imagem)</a:t>
            </a:r>
            <a:endParaRPr sz="18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-40650" y="-7500"/>
            <a:ext cx="9225300" cy="5158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1768500" y="714025"/>
            <a:ext cx="5607000" cy="5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2331550" y="-1183325"/>
            <a:ext cx="6903550" cy="78476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1510500" y="740125"/>
            <a:ext cx="61230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DB1E2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Título</a:t>
            </a:r>
            <a:endParaRPr sz="3300">
              <a:solidFill>
                <a:srgbClr val="DB1E2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168400" y="1341975"/>
            <a:ext cx="4807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subtítulo</a:t>
            </a:r>
            <a:endParaRPr i="1" sz="1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-13425" y="0"/>
            <a:ext cx="9144000" cy="5143500"/>
          </a:xfrm>
          <a:prstGeom prst="rect">
            <a:avLst/>
          </a:prstGeom>
          <a:solidFill>
            <a:srgbClr val="DB1E2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11700" y="181750"/>
            <a:ext cx="8520600" cy="47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título</a:t>
            </a:r>
            <a:endParaRPr sz="5200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subtítulo</a:t>
            </a:r>
            <a:endParaRPr b="1" i="1" sz="2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sz="5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0" y="0"/>
            <a:ext cx="91662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-403950" y="-27375"/>
            <a:ext cx="5616499" cy="5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352825" y="2756650"/>
            <a:ext cx="31455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0" y="983075"/>
            <a:ext cx="2893200" cy="77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276625" y="1128875"/>
            <a:ext cx="25194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DB1E2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título</a:t>
            </a:r>
            <a:endParaRPr sz="4500">
              <a:solidFill>
                <a:srgbClr val="DB1E2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65350" y="1809200"/>
            <a:ext cx="2762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subtítulo</a:t>
            </a:r>
            <a:endParaRPr i="1" sz="20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76625" y="2066275"/>
            <a:ext cx="2938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texto</a:t>
            </a:r>
            <a:endParaRPr i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5428200" y="-21150"/>
            <a:ext cx="3738000" cy="518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8007850" y="4795000"/>
            <a:ext cx="1075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(Imagem)</a:t>
            </a:r>
            <a:endParaRPr sz="18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DB1E2F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88888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809350" y="-628650"/>
            <a:ext cx="6400801" cy="640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-3054075" y="-886350"/>
            <a:ext cx="6916200" cy="69162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209050" y="647325"/>
            <a:ext cx="2964900" cy="38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rPr lang="pt-BR" sz="229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TÍTULO</a:t>
            </a:r>
            <a:endParaRPr sz="22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rPr lang="pt-BR" sz="219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subtítulo</a:t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t/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t/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t/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t/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t/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t/>
            </a:r>
            <a:endParaRPr sz="21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40"/>
              <a:buFont typeface="Arial"/>
              <a:buNone/>
            </a:pPr>
            <a:r>
              <a:rPr lang="pt-BR" sz="169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informações</a:t>
            </a:r>
            <a:endParaRPr sz="129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4160350" y="1228275"/>
            <a:ext cx="44247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texto corrido</a:t>
            </a:r>
            <a:endParaRPr i="1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60750" y="1839125"/>
            <a:ext cx="1861500" cy="1861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1153750" y="2612000"/>
            <a:ext cx="1075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(Imagem)</a:t>
            </a:r>
            <a:endParaRPr sz="1800"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175" y="-29900"/>
            <a:ext cx="9144000" cy="51735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323700" y="1769275"/>
            <a:ext cx="562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Texto corrido</a:t>
            </a:r>
            <a:endParaRPr sz="1600"/>
          </a:p>
        </p:txBody>
      </p:sp>
      <p:sp>
        <p:nvSpPr>
          <p:cNvPr id="117" name="Google Shape;117;p20"/>
          <p:cNvSpPr/>
          <p:nvPr/>
        </p:nvSpPr>
        <p:spPr>
          <a:xfrm>
            <a:off x="0" y="858725"/>
            <a:ext cx="2272800" cy="5907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323700" y="907325"/>
            <a:ext cx="16800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Título</a:t>
            </a:r>
            <a:endParaRPr b="1" sz="32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-14950" y="-7475"/>
            <a:ext cx="9144000" cy="16074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1368100" y="515850"/>
            <a:ext cx="6407100" cy="5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1615200" y="654175"/>
            <a:ext cx="591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DB1E2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Título</a:t>
            </a:r>
            <a:endParaRPr sz="2600">
              <a:solidFill>
                <a:srgbClr val="DB1E2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2254400" y="1039050"/>
            <a:ext cx="4605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subtítulo</a:t>
            </a:r>
            <a:endParaRPr i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4530475" y="0"/>
            <a:ext cx="4613400" cy="51435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972375" y="1613938"/>
            <a:ext cx="2586600" cy="6579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1308375" y="1684288"/>
            <a:ext cx="1914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título</a:t>
            </a:r>
            <a:endParaRPr b="1" sz="3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765675" y="2608263"/>
            <a:ext cx="315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pt-BR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texto corrido</a:t>
            </a:r>
            <a:endParaRPr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/>
        </p:nvSpPr>
        <p:spPr>
          <a:xfrm>
            <a:off x="5240700" y="0"/>
            <a:ext cx="3903300" cy="51435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972375" y="1613938"/>
            <a:ext cx="2586600" cy="6579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1308375" y="1684288"/>
            <a:ext cx="1914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título</a:t>
            </a:r>
            <a:endParaRPr b="1" sz="3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765675" y="2608263"/>
            <a:ext cx="315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pt-BR">
                <a:solidFill>
                  <a:srgbClr val="DB1E2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texto corrido</a:t>
            </a:r>
            <a:endParaRPr>
              <a:solidFill>
                <a:srgbClr val="DB1E2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/>
        </p:nvSpPr>
        <p:spPr>
          <a:xfrm>
            <a:off x="510475" y="1418475"/>
            <a:ext cx="3574800" cy="30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AF0421"/>
                </a:solidFill>
                <a:latin typeface="Proxima Nova"/>
                <a:ea typeface="Proxima Nova"/>
                <a:cs typeface="Proxima Nova"/>
                <a:sym typeface="Proxima Nova"/>
              </a:rPr>
              <a:t>título</a:t>
            </a:r>
            <a:endParaRPr b="1" sz="3600">
              <a:solidFill>
                <a:srgbClr val="AF042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4126750" y="7475"/>
            <a:ext cx="5017200" cy="51435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4743650" y="2745363"/>
            <a:ext cx="33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3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texto corrido</a:t>
            </a:r>
            <a:endParaRPr b="1" i="1" sz="13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4596675" y="1813125"/>
            <a:ext cx="416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roxima Nova Semibold"/>
              <a:buChar char="●"/>
            </a:pPr>
            <a:r>
              <a:rPr lang="pt-BR" sz="17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informações</a:t>
            </a:r>
            <a:endParaRPr sz="17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roxima Nova Semibold"/>
              <a:buChar char="●"/>
            </a:pPr>
            <a:r>
              <a:rPr lang="pt-BR" sz="17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dados</a:t>
            </a:r>
            <a:endParaRPr sz="17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Proxima Nova Semibold"/>
              <a:buChar char="●"/>
            </a:pPr>
            <a:r>
              <a:t/>
            </a:r>
            <a:endParaRPr sz="17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3722388" y="32075"/>
            <a:ext cx="5421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0" y="0"/>
            <a:ext cx="37224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249300" y="2187750"/>
            <a:ext cx="32238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Muito</a:t>
            </a:r>
            <a:br>
              <a:rPr lang="pt-BR" sz="3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pt-BR" sz="3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obrigado!</a:t>
            </a:r>
            <a:endParaRPr sz="36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674" y="1167750"/>
            <a:ext cx="959050" cy="957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4364676" y="3390441"/>
            <a:ext cx="2112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595959"/>
                </a:solidFill>
              </a:rPr>
              <a:t>@</a:t>
            </a:r>
            <a:r>
              <a:rPr lang="pt-BR" sz="1700">
                <a:solidFill>
                  <a:srgbClr val="595959"/>
                </a:solidFill>
                <a:highlight>
                  <a:srgbClr val="FFFFFF"/>
                </a:highlight>
              </a:rPr>
              <a:t>cinufpe</a:t>
            </a:r>
            <a:endParaRPr sz="17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  <a:highlight>
                <a:srgbClr val="FFFFFF"/>
              </a:highlight>
              <a:uFill>
                <a:noFill/>
              </a:uFill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4346376" y="3755853"/>
            <a:ext cx="3431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595959"/>
                </a:solidFill>
              </a:rPr>
              <a:t>Centro de Informática UFPE</a:t>
            </a:r>
            <a:endParaRPr sz="17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  <a:highlight>
                <a:srgbClr val="FFFFFF"/>
              </a:highlight>
              <a:uFill>
                <a:noFill/>
              </a:u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364676" y="4121208"/>
            <a:ext cx="3394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595959"/>
                </a:solidFill>
              </a:rPr>
              <a:t>Centro de Informática UFPE</a:t>
            </a:r>
            <a:endParaRPr sz="1700">
              <a:solidFill>
                <a:srgbClr val="595959"/>
              </a:solidFill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2069" y="3741448"/>
            <a:ext cx="282607" cy="27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3449" y="3378325"/>
            <a:ext cx="291219" cy="27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82069" y="4091766"/>
            <a:ext cx="282607" cy="27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82069" y="4442083"/>
            <a:ext cx="282607" cy="27219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4364676" y="4442087"/>
            <a:ext cx="2112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595959"/>
                </a:solidFill>
              </a:rPr>
              <a:t>@</a:t>
            </a:r>
            <a:r>
              <a:rPr lang="pt-BR" sz="1700">
                <a:solidFill>
                  <a:srgbClr val="595959"/>
                </a:solidFill>
                <a:highlight>
                  <a:srgbClr val="FFFFFF"/>
                </a:highlight>
              </a:rPr>
              <a:t>CInUFPE</a:t>
            </a:r>
            <a:endParaRPr sz="17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  <a:highlight>
                <a:srgbClr val="FFFFFF"/>
              </a:highlight>
              <a:uFill>
                <a:noFill/>
              </a:uFill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86812" y="2913825"/>
            <a:ext cx="464501" cy="46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4364676" y="3039420"/>
            <a:ext cx="3394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595959"/>
                </a:solidFill>
              </a:rPr>
              <a:t>https://portal.cin.ufpe.br/</a:t>
            </a:r>
            <a:endParaRPr sz="1700">
              <a:solidFill>
                <a:srgbClr val="595959"/>
              </a:solidFill>
            </a:endParaRPr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48307" y="123825"/>
            <a:ext cx="2757443" cy="27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/>
        </p:nvSpPr>
        <p:spPr>
          <a:xfrm>
            <a:off x="865275" y="53762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88888"/>
              </a:solidFill>
            </a:endParaRPr>
          </a:p>
        </p:txBody>
      </p:sp>
      <p:pic>
        <p:nvPicPr>
          <p:cNvPr id="177" name="Google Shape;177;p26" title="H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63" y="1201124"/>
            <a:ext cx="7929477" cy="27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