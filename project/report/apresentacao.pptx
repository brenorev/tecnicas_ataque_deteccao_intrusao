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13"/>
    <p:sldId id="263" r:id="rId12"/>
    <p:sldId id="264" r:id="rId11"/>
    <p:sldId id="265" r:id="rId10"/>
    <p:sldId id="266" r:id="rId9"/>
    <p:sldId id="267" r:id="rId8"/>
    <p:sldId id="268" r:id="rId7"/>
    <p:sldId id="269" r:id="rId6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Proxima Nova Extrabold"/>
      <p:bold r:id="rId24"/>
    </p:embeddedFont>
    <p:embeddedFont>
      <p:font typeface="Proxima Nova Semibold"/>
      <p:regular r:id="rId25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ProximaNovaExtrabold-bold.fntdata"/><Relationship Id="rId25" Type="http://schemas.openxmlformats.org/officeDocument/2006/relationships/font" Target="fonts/ProximaNovaSemibold-regular.fntdata"/><Relationship Id="rId26" Type="http://schemas.openxmlformats.org/officeDocument/2006/relationships/font" Target="fonts/ProximaNovaSemibold-bold.fntdata"/><Relationship Id="rId27" Type="http://schemas.openxmlformats.org/officeDocument/2006/relationships/font" Target="fonts/ProximaNova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equipe e o artigo reproduzido.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turma já viu o seminário: só o necessário para entender o que reproduzimos.</a:t>
            </a:r>
          </a:p>
          <a:p>
            <a:r>
              <a:t>Artigo: Zebin, Rezvy e Luo, IEEE TIFS, 2022. Dataset CIRA-CIC-DoHBrw-2020.</a:t>
            </a:r>
          </a:p>
          <a:p>
            <a:r>
              <a:t>Os valores acima de 99,9% são os do resumo do artigo.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Nada foi ajustado para aproximar número do artigo: seed, hiperparâmetro e limpeza ficaram fixos.</a:t>
            </a:r>
          </a:p>
          <a:p>
            <a:r>
              <a:t>As duas leituras de profundidade têm apoio no texto; reportamos as duas.</a:t>
            </a:r>
          </a:p>
          <a:p>
            <a:r>
              <a:t>As etapas seguintes usam a leitura de profundidade variável como base, porque a outra não prediz uma das classes.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há conjunto de validação separado, como no artigo: a validação é cruzada.</a:t>
            </a:r>
          </a:p>
          <a:p>
            <a:r>
              <a:t>O combinado publicado repete 20 vezes cada fluxo do HKD; usamos a forma sem réplicas, para o teste não conter cópias do treino.</a:t>
            </a:r>
          </a:p>
          <a:p>
            <a:r>
              <a:t>O HKD sozinho só tem tráfego malicioso: serve de teste na transferência.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Linha é a classe real, coluna a predita; entre parênteses, a diferença para o artigo.</a:t>
            </a:r>
          </a:p>
          <a:p>
            <a:r>
              <a:t>Trilha fiel é a profundidade 5; trilha variante, a profundidade variável.</a:t>
            </a:r>
          </a:p>
          <a:p>
            <a:r>
              <a:t>Com profundidade 5, os 1975 fluxos Benign-DoH do teste vão para Non-DoH.</a:t>
            </a:r>
          </a:p>
          <a:p>
            <a:r>
              <a:t>Com profundidade variável: F1 macro de 96,56%, contra 97,82% calculado da Fig. 4b.</a:t>
            </a:r>
          </a:p>
          <a:p>
            <a:r>
              <a:t>Não afirmamos que a profundidade variável é a dos autores: são duas leituras com apoio no texto.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bases de profundidade 5 têm precisão de Benign-DoH perto de 30%: marcam muito Non-DoH como Benign-DoH.</a:t>
            </a:r>
          </a:p>
          <a:p>
            <a:r>
              <a:t>A combinação em que os três dizem Benign-DoH ocorre em 49247 linhas do treino; 31025 são Non-DoH. O meta-classificador devolve Non-DoH.</a:t>
            </a:r>
          </a:p>
          <a:p>
            <a:r>
              <a:t>Por isso as métricas por classe vêm antes das médias, e a média é a macro.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Art. é o valor do artigo; Rep. e Macro são a reprodução, com média macro.</a:t>
            </a:r>
          </a:p>
          <a:p>
            <a:r>
              <a:t>O artigo não diz que média usa; nenhuma média reproduz a linha do modelo proposto.</a:t>
            </a:r>
          </a:p>
          <a:p>
            <a:r>
              <a:t>A legenda da Fig. 9 só é reproduzida com os arquivos sem a limpeza: é indício, não prova, de que essa seção usou outros dados.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regra com um só atributo teria recall de 99,84% e 1 falso positivo em 909555 fluxos legítimos: o modelo pode separar pela captura.</a:t>
            </a:r>
          </a:p>
          <a:p>
            <a:r>
              <a:t>Não dizemos que o limiar de 40 s foi refutado: a amostra tem classes em partes iguais e o artigo lê o valor a olho.</a:t>
            </a:r>
          </a:p>
          <a:p>
            <a:r>
              <a:t>O painel interativo foi implementado e pode ser mostrado ao final.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 ponto por seed; o traço é a média.</a:t>
            </a:r>
          </a:p>
          <a:p>
            <a:r>
              <a:t>Com profundidade 5, o recall de Benign-DoH é zero nas dez seeds.</a:t>
            </a:r>
          </a:p>
          <a:p>
            <a:r>
              <a:t>A separação entre Non-DoH e Benign-DoH aprendida em três máquinas não vale na quarta.</a:t>
            </a:r>
          </a:p>
          <a:p>
            <a:r>
              <a:t>Nenhuma máquina gerou tráfego legítimo e malicioso: nenhum split separa a captura do ataque.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o achado principal. É compatível com um detector que aprendeu a assinatura das ferramentas e da captura do CIRA, e não o comportamento de túnel.</a:t>
            </a:r>
          </a:p>
          <a:p>
            <a:r>
              <a:t>Os 99,42% são 510 de 513 fluxos, e medem as mesmas ferramentas, não uma nunca vista.</a:t>
            </a:r>
          </a:p>
          <a:p>
            <a:r>
              <a:t>Non-DoH e Benign-DoH do combinado são os do CIRA: métricas gerais iguais são esperadas.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é o sistema do artigo com profundidade variável; 10 seeds, média e desvio.</a:t>
            </a:r>
          </a:p>
          <a:p>
            <a:r>
              <a:t>M1 perde 0,50 ponto de recall de Benign-DoH em relação a A.</a:t>
            </a:r>
          </a:p>
          <a:p>
            <a:r>
              <a:t>Não dizemos que a modificação reduz falsos positivos: no CIRA é cerca de um fluxo por teste, e não se repete no combinado.</a:t>
            </a:r>
          </a:p>
          <a:p>
            <a:r>
              <a:t>Os testes das seeds se sobrepõem: não usamos a palavra significativo.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Nenhum tráfego foi gerado: é perturbação simulada, sem retreino.</a:t>
            </a:r>
          </a:p>
          <a:p>
            <a:r>
              <a:t>Nos fatores 8 e 16, mais de 96% dos vetores são fisicamente incoerentes.</a:t>
            </a:r>
          </a:p>
          <a:p>
            <a:r>
              <a:t>Não dizemos quanto um atacante real evadiria.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modificação melhora o F1 macro em meio ponto e não resolve a generalização.</a:t>
            </a:r>
          </a:p>
          <a:p>
            <a:r>
              <a:t>O segundo dataset compartilha duas classes com o primeiro.</a:t>
            </a:r>
          </a:p>
          <a:p>
            <a:r>
              <a:t>Relatório, código e resultados estão no repositório.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0" y="1350000"/>
            <a:ext cx="8520600" cy="150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Proxima Nova Extrabold"/>
              </a:rPr>
              <a:t>IDS explicável para ataques DNS over HTTPS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950000"/>
            <a:ext cx="8520600" cy="17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Reprodução, segundo dataset e modificação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CIN0114 · Técnicas de Ataque e Detecção de Intrusão · 2026.2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Prof. Paulo Freitas de Araujo Filho · CIn/UFPE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Amanda Arruda · Breno Silva Xavier de Souza · João Henrique Portela · Antonio Gonzaga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0000"/>
            <a:ext cx="2198418" cy="7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O artigo em um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Problema: o DoH cifra a consulta DNS; o túnel DNS vira HTTPS comum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O IDS só tem estatísticas de fluxo: 29 atributos, sem decifrar o TLS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Três classes: Non-DoH, Benign-DoH, Malicious-DoH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Sistema: três subconjuntos balanceados com SMOTE, três Random Forests e uma regressão logística que os combina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Explicação das decisões com SHAP, em painel interativo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Publicado: precisão, recall e F1 acima de 99,9%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O que construímos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Reimplementação a partir do texto: o código público só traz o painel e um Random Forest único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Duas leituras da profundidade das árvores, lado a lado: 5 (Seção IV-B) e variável (Algoritmo 1)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Todas as tabelas e figuras de resultado do artigo, com a diferença medida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Segundo dataset: CIRA + HKD, com três ferramentas de túnel novas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Protocolo corrigido: 10 seeds, teste sem vetores repetidos, folds por máquina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Modificação do sistema e teste de robustez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Um script por experimento; resultado gravado com seed, versões e commit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Dados e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Remover linhas com valor ausente reproduz a Tabela I do artigo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Split 90/10 estratificado, seed 42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Validação cruzada de 10 folds dentro do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Segundo dataset: só a classe maliciosa ganha tráfego novo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No CIRA, o malicioso vem de outras máquinas e de outro período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00000" y="1010000"/>
          <a:ext cx="4029037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873"/>
                <a:gridCol w="886388"/>
                <a:gridCol w="886388"/>
                <a:gridCol w="886388"/>
              </a:tblGrid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Conjunto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Non-DoH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Benign-DoH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Malicious-DoH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 limpo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889809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19746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249553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Tabela I do artigo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889809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19746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249553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CIRA: treino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800828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17771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224598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CIRA: teste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88981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1975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24955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Combinado: treino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800828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17771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229330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Combinado: teste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88981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1975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25481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HKD isolado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5258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Reprodução: as duas leituras ao lado da Fig. 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3590000"/>
            <a:ext cx="8520600" cy="14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Profundidade 5: nenhum Benign-DoH predito, e a acurácia ainda é 97,79%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Profundidade variável: a 553 fluxos da matriz do artigo, contra 4711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proximidade não diz qual configuração os autores usaram</a:t>
            </a:r>
          </a:p>
        </p:txBody>
      </p:sp>
      <p:pic>
        <p:nvPicPr>
          <p:cNvPr id="5" name="Picture 4" descr="matriz_confusao_teste_dup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92" y="1010000"/>
            <a:ext cx="6884615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Por que a profundidade 5 perde uma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Sozinhos, os três Random Forests acertam 85% a 86% do Benign-DoH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perda acontece na regressão logística que os combina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No treino, quando os três dizem Benign-DoH, a classe real mais comum é Non-DoH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acurácia esconde a classe rara: Benign-DoH é 1,70% do teste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00000" y="1010000"/>
          <a:ext cx="4029037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873"/>
                <a:gridCol w="886388"/>
                <a:gridCol w="886388"/>
                <a:gridCol w="886388"/>
              </a:tblGrid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Métrica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Artigo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Prof. 5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Prof. var.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Benign-DoH: precisão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97,27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0,00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87,13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Benign-DoH: recall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90,23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0,00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92,91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Malicious-DoH: recall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97,91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Acurácia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99,78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97,79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99,64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F1 macro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97,82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65,80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96,56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Tabela II e ferramenta de túnel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Tabela II do artigo (99,98%) diverge da matriz do próprio artigo (99,78%)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ordem dos modelos de comparação se mantém em F1 macro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Ferramenta de túnel (Seção VI-D): recall a menos de 2 pontos do artigo com profundidade variável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artigo não descreve esse método: é leitura nossa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00000" y="1010000"/>
          <a:ext cx="4029038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50"/>
                <a:gridCol w="745372"/>
                <a:gridCol w="745372"/>
                <a:gridCol w="745372"/>
                <a:gridCol w="745372"/>
              </a:tblGrid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Modelo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Acurácia Art.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Acurácia Rep.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F1 Art.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F1 Macro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Decision Tree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97,70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97,23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81,97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84,21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XGBoost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99,27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99,31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98,43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94,00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Random Forest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99,42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99,87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94,80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Proposto, prof. 5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97,79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65,80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Proposto, prof. variável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99,64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99,91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96,56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Explicabilidade com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Artigo: Duration em primeiro. Aqui: PacketLengthMode, com larga margem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Correlação de Spearman com a Fig. 5: 0,62 e 0,51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Quatro valores de PacketLengthMode cobrem 99,84% do malicioso do CIRA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Duration: direção do artigo confirmada; o sinal troca em 33,13 s na nossa amostra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SHAP explica os Random Forests base, não o empilhamento</a:t>
            </a:r>
          </a:p>
        </p:txBody>
      </p:sp>
      <p:pic>
        <p:nvPicPr>
          <p:cNvPr id="5" name="Picture 4" descr="shap_importancia_c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411" y="1010000"/>
            <a:ext cx="2933478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Protocolo corrigido: 10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A: sistema do artigo, profundidade variável. F1 macro de 96,56 ± 0,12%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B e C: Random Forest único com SMOTE; M1M2: a nossa modificação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13,64% do teste repete um vetor do treino; sem eles, os vereditos não mudam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Folds por máquina: recall de Benign-DoH cai de 93,07% para 31,10%</a:t>
            </a:r>
          </a:p>
        </p:txBody>
      </p:sp>
      <p:pic>
        <p:nvPicPr>
          <p:cNvPr id="5" name="Picture 4" descr="corrigido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1457468"/>
            <a:ext cx="4332300" cy="3005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Segundo dataset: ferramentas novas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Treinado no CIRA, o sistema detecta 1,81% dos fluxos do HKD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regra de PacketLengthMode: 99,84% no CIRA, 0% no HKD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Retreino sem réplicas: 99,42%, em fluxos vizinhos dos do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Retreino no publicado: todo fluxo do HKD no teste tem cópia no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Com profundidade 5: 73,29% nas ferramentas do HKD</a:t>
            </a:r>
          </a:p>
        </p:txBody>
      </p:sp>
      <p:pic>
        <p:nvPicPr>
          <p:cNvPr id="5" name="Picture 4" descr="segundo_recall_ferram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21" y="1010000"/>
            <a:ext cx="3212857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Modificação: Random Forest único com peso de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3590000"/>
            <a:ext cx="8520600" cy="14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Sem SMOTE e sem empilhamento; M1M2 também seleciona hiperparâmetros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F1 macro 0,50 ponto acima no CIRA e 0,57 no combinado, nas dez seeds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ganho já está em M1, que treina em 31 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seleção de hiperparâmetros não muda o F1 macro: −0,08 ± 0,15 ponto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1700" y="1010000"/>
          <a:ext cx="7924156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281"/>
                <a:gridCol w="1172775"/>
                <a:gridCol w="1172775"/>
                <a:gridCol w="1172775"/>
                <a:gridCol w="1172775"/>
                <a:gridCol w="1172775"/>
              </a:tblGrid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Dataset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Modelo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Benign prec.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Benign rec.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F1 macro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oxima Nova"/>
                        </a:rPr>
                        <a:t>Treino (s)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87,00 ± 0,66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93,07 ± 0,52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96,56 ± 0,12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161,0 ± 57,3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M1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90,71 ± 0,52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92,57 ± 0,51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97,14 ± 0,12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31,1 ± 1,3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M1M2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89,19 ± 0,70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93,67 ± 0,48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97,05 ± 0,15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263,2 ± 7,2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Combinado sem réplicas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86,75 ± 0,83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93,18 ± 0,53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96,53 ± 0,19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117,8 ± 2,0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Combinado sem réplicas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M1M2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89,47 ± 0,50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93,65 ± 0,40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97,10 ± 0,14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31F20"/>
                          </a:solidFill>
                          <a:latin typeface="Proxima Nova"/>
                        </a:rPr>
                        <a:t>265,1 ± 1,4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Robustez: fragmentação simulada do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artigo publica que a duração pesa: o atacante encurta o fluxo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Duração e bytes divididos por k, no espaço de atributos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k = 2: o sistema do artigo perde 3,19 pontos de recall; M1M2, 0,34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k ≥ 4: M1M2 desaba em duas ou três seeds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Não ordena os modelos em robustez</a:t>
            </a:r>
          </a:p>
        </p:txBody>
      </p:sp>
      <p:pic>
        <p:nvPicPr>
          <p:cNvPr id="5" name="Picture 4" descr="robustez_fragmen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1457468"/>
            <a:ext cx="4332300" cy="3005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Limitações e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A reprodução depende de um ponto que o artigo deixa em aberto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A Tabela II e o resumo do artigo não foram reproduzidos por nenhuma leitura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O sistema não generaliza para ferramentas fora do treino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Um atributo separa quase todo o malicioso do CIRA: captura e classe se confundem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Um Random Forest único com peso de classe supera o empilhamento em F1 macro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Nossa parte: reprodução com uma seed; fragmentação só simulada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Próximo passo: gerar tráfego fragmentado e testar ferramenta deixada de fora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00000"/>
            <a:ext cx="8520600" cy="90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Proxima Nova Extrabold"/>
              </a:rPr>
              <a:t>Obrigado! Perguntas?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0000"/>
            <a:ext cx="2198418" cy="7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3000000"/>
            <a:ext cx="8520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oxima Nova"/>
              </a:rPr>
              <a:t>github.com/BrenoRev/Tecnicas_Ataque_Deteccao_Intrusao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